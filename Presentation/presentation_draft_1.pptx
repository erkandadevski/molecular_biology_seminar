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07A2-67B8-299C-85BD-4D071E3D9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B2156-3A35-B8C7-2CBE-DEF920D65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027C3-A580-DE4C-C4C5-BC053A5A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0B08E-82BE-985B-B464-38161904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E88D-80FF-D774-6744-9D41B79E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304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9FE2-9F6D-7DB8-9145-DD60DECA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2BF-FB45-3706-502E-A55343C15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4DC79-BEB7-47DD-DEC5-7A10CAB5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4F096-95CF-5DC5-73C8-FD7ED065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FCF3-EADC-2851-8F6B-9114F348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5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A3562-F33B-D5E9-252C-55C339F6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D6CA-1C53-4815-DA4F-BAB60B2BA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F6D2C-EA6C-CBF4-8032-7DA6D0B3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9604E-EFC0-B4B7-565B-29A17189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E78F6-BC9C-59DA-F550-9B4996EE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8649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6B2E-829A-1E9E-8501-50C4E22B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218F3-EBD8-FED2-73C2-95D3D3AF8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E8951-51CF-F8C7-FBB1-D25C53600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48B0E-0420-FE44-1F84-B6E54C15C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6020D-21E0-0520-C40D-2DEFAF50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EEBE5-2BB6-D8DD-0C16-9DAC9E59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047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4391-96C7-7154-7105-DE4D17E6D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C53C2-0EA8-FB5E-AC72-24043AA99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7213C-8D65-B666-B3C2-6E6C7D84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E0E27-4171-F8B5-30F4-FDD6C1840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8F01C-62D0-5412-A9DE-E70EB9E6F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635FEC-11B2-1949-0A13-9C168EE6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E488A7-AA85-EB3C-25B2-E0A4BBB8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60A24-6807-6330-BA4C-003246ED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87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87BB-3ADD-9DCE-F59D-64200C14D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21755-A576-17CB-EFBC-AE23B0CC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0CB4D-AAF6-EBAA-39B2-880D8A84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7BB54-2882-2D13-F662-29E86BAC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226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FB863-41A5-E8D9-3B25-1CFB570F7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3FD67-5D2C-1EE7-CE07-A057817D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B7F31-539D-F0E4-2239-262AB9A2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642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E10F-18F3-C705-E694-30860FDE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20A1-7953-84CE-FDFB-06F862D89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D5611-460C-9DEF-E5DD-507687C36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82BBD-E97D-7B9A-E6F8-98E3C45E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A122B-A244-4BB8-FBBE-191376DB9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6E76C-5930-3D61-C082-F0B444CC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00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5AEB-4141-EA2C-0205-31EF3C21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AC176-BD57-59B6-A24C-7ACDA633F7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460E-04FB-A50C-C6C5-3E02CA208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3D4ED-A358-DA79-8586-D71D9B564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2D40D-09B2-50BD-4EA5-6A47309A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CC8A7-CF7B-7B3E-C46C-A4FFCB3C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755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6A353-22D1-1355-450D-35CD099C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E115C-0E5F-A72B-CF70-0C19798DD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01F0E-E722-FE90-5782-83CEA4CD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6FE91-581A-2360-4D49-EFBC9101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D8A5A-E365-E736-1D2B-495B2FC2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942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26746-D460-F7C0-AEA5-9E1B6C5D6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4A929-7083-895B-9E4A-A20425670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58418-7CE8-0E1E-8CEA-48790829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C046-1521-5390-4B28-C6FF6B5F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00DF-E65E-8A6D-611E-F13D993A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093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6533D-5CC2-4471-6167-F652454E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F2FF2-5D06-816A-C808-F31650534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67604-1EC3-73FE-F59C-D775E034D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07A8B9-9F42-47A9-A406-70F24C812B58}" type="datetimeFigureOut">
              <a:rPr lang="de-DE" smtClean="0"/>
              <a:t>23.01.2026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BE6BC-BC90-10C9-AE66-96547A8C9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C3F36-CEDE-80C5-2CB0-ACDE34C7D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85DBE-37AA-4F89-BBE8-1C8A6187247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10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1C16-1E06-0FED-13F4-30C9F433F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Cefoxitin Resistance in </a:t>
            </a:r>
            <a:r>
              <a:rPr lang="en-US" i="1" dirty="0"/>
              <a:t>Staphylococcus aureus</a:t>
            </a:r>
            <a:r>
              <a:rPr lang="en-US" dirty="0"/>
              <a:t> Using Encoder-Only Transformer Models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09F82-397D-8C98-468A-B9959F85F9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Aryan Kadiya, Erkan Dadevski</a:t>
            </a:r>
          </a:p>
        </p:txBody>
      </p:sp>
    </p:spTree>
    <p:extLst>
      <p:ext uri="{BB962C8B-B14F-4D97-AF65-F5344CB8AC3E}">
        <p14:creationId xmlns:p14="http://schemas.microsoft.com/office/powerpoint/2010/main" val="98425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AB5C-48D4-AC9C-F30E-F704CE00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Maybe table of contents?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F6496-60E0-902A-C8F2-96C5A243A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44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9124-370C-EBDE-7864-8A0945DA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probably covered by everyone else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678F-631C-DC8E-F512-CB094D479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507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231A-C716-3F59-3406-59304165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Theoretical Background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CEF2D-9F98-ED03-7700-AB0AA8764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Turning ACGT into something interpretable for machines</a:t>
            </a:r>
          </a:p>
          <a:p>
            <a:pPr lvl="1"/>
            <a:r>
              <a:rPr lang="en-GB" dirty="0"/>
              <a:t>Numbers</a:t>
            </a:r>
            <a:endParaRPr lang="de-DE" dirty="0"/>
          </a:p>
          <a:p>
            <a:r>
              <a:rPr lang="de-DE" dirty="0"/>
              <a:t>Different approaches</a:t>
            </a:r>
          </a:p>
          <a:p>
            <a:r>
              <a:rPr lang="de-DE" dirty="0"/>
              <a:t>Old way / historically: one hot encoding</a:t>
            </a:r>
          </a:p>
          <a:p>
            <a:pPr lvl="1"/>
            <a:r>
              <a:rPr lang="de-DE" dirty="0"/>
              <a:t>Properties (sparse, high dimensional)</a:t>
            </a:r>
          </a:p>
          <a:p>
            <a:r>
              <a:rPr lang="de-DE" dirty="0"/>
              <a:t>New way / modern approach: learned embeddings</a:t>
            </a:r>
          </a:p>
          <a:p>
            <a:pPr lvl="1"/>
            <a:r>
              <a:rPr lang="de-DE" dirty="0"/>
              <a:t>Dense vectors</a:t>
            </a:r>
          </a:p>
          <a:p>
            <a:pPr lvl="1"/>
            <a:r>
              <a:rPr lang="de-DE" dirty="0"/>
              <a:t>Capture mathematical similarities between sequences</a:t>
            </a:r>
          </a:p>
        </p:txBody>
      </p:sp>
    </p:spTree>
    <p:extLst>
      <p:ext uri="{BB962C8B-B14F-4D97-AF65-F5344CB8AC3E}">
        <p14:creationId xmlns:p14="http://schemas.microsoft.com/office/powerpoint/2010/main" val="4122443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4513-B7CD-6D27-7B0F-F9DF3A3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Evolution of models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B782-5D9C-A92E-8A8B-29FE31AE5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Early application: Support Vector Machines (SVM)</a:t>
            </a:r>
          </a:p>
          <a:p>
            <a:pPr lvl="1"/>
            <a:r>
              <a:rPr lang="en-GB" dirty="0"/>
              <a:t>Required manual feature engineering</a:t>
            </a:r>
          </a:p>
          <a:p>
            <a:r>
              <a:rPr lang="en-GB" dirty="0"/>
              <a:t>Neural networks:</a:t>
            </a:r>
          </a:p>
          <a:p>
            <a:pPr lvl="1"/>
            <a:r>
              <a:rPr lang="en-GB" dirty="0"/>
              <a:t>CNNs excel at finding local patterns</a:t>
            </a:r>
          </a:p>
          <a:p>
            <a:pPr lvl="2"/>
            <a:r>
              <a:rPr lang="en-GB" dirty="0"/>
              <a:t>Struggle with long distance connections</a:t>
            </a:r>
          </a:p>
          <a:p>
            <a:pPr lvl="1"/>
            <a:r>
              <a:rPr lang="en-GB" dirty="0"/>
              <a:t>RNNs process sequentially</a:t>
            </a:r>
          </a:p>
          <a:p>
            <a:pPr lvl="2"/>
            <a:r>
              <a:rPr lang="en-GB" dirty="0"/>
              <a:t>Suffer from vanishing gradients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802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7369-0AC7-F8DD-780F-7EBBD6E7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Transformer approach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5881D-BF36-1417-B358-926D56EF6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Introduced by Vaswani 2017</a:t>
            </a:r>
          </a:p>
          <a:p>
            <a:r>
              <a:rPr lang="en-GB" dirty="0"/>
              <a:t>Innovation something </a:t>
            </a:r>
            <a:r>
              <a:rPr lang="en-GB" dirty="0" err="1"/>
              <a:t>something</a:t>
            </a:r>
            <a:endParaRPr lang="en-GB" dirty="0"/>
          </a:p>
          <a:p>
            <a:r>
              <a:rPr lang="en-GB" dirty="0"/>
              <a:t>Introduced self-attention mechanism</a:t>
            </a:r>
          </a:p>
          <a:p>
            <a:pPr lvl="1"/>
            <a:r>
              <a:rPr lang="en-GB" dirty="0"/>
              <a:t>Allows model to weigh every nucleotide against the others</a:t>
            </a:r>
          </a:p>
          <a:p>
            <a:pPr lvl="1"/>
            <a:r>
              <a:rPr lang="en-GB" dirty="0"/>
              <a:t>Allows to find short-distance as well as long-distance relations</a:t>
            </a:r>
          </a:p>
          <a:p>
            <a:pPr lvl="1"/>
            <a:r>
              <a:rPr lang="en-GB" dirty="0"/>
              <a:t>CNNs struggle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Here maybe a figure like a diagram or something of this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803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D360-DC58-B234-C4FD-9DEC972E1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AAC5D-C69C-4693-1925-C45A8B63C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899 pbp4 sequences </a:t>
            </a:r>
          </a:p>
          <a:p>
            <a:r>
              <a:rPr lang="en-GB" dirty="0"/>
              <a:t>Average length of 1290 nucleotides</a:t>
            </a:r>
          </a:p>
          <a:p>
            <a:r>
              <a:rPr lang="en-GB" dirty="0"/>
              <a:t>Model limit is 512 tokens</a:t>
            </a:r>
          </a:p>
          <a:p>
            <a:endParaRPr lang="en-GB" dirty="0"/>
          </a:p>
          <a:p>
            <a:r>
              <a:rPr lang="en-GB" dirty="0"/>
              <a:t>Solution : sliding window</a:t>
            </a:r>
          </a:p>
          <a:p>
            <a:pPr lvl="1"/>
            <a:r>
              <a:rPr lang="en-GB" dirty="0"/>
              <a:t>Overlapping windows of 510</a:t>
            </a:r>
          </a:p>
          <a:p>
            <a:pPr lvl="1"/>
            <a:r>
              <a:rPr lang="en-GB" dirty="0"/>
              <a:t>Stride of 250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938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9175-2533-4D0E-AFB5-0A03EBBF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DNABERT-2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EDE31-7B2F-0CF1-27E8-A2706664F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Encoder only transformer</a:t>
            </a:r>
          </a:p>
          <a:p>
            <a:r>
              <a:rPr lang="en-GB" dirty="0"/>
              <a:t>Trained on 50 billion nucleotides</a:t>
            </a:r>
          </a:p>
          <a:p>
            <a:endParaRPr lang="en-GB" dirty="0"/>
          </a:p>
          <a:p>
            <a:r>
              <a:rPr lang="en-GB" dirty="0"/>
              <a:t>Uses byte-pair encoding and attention with linear </a:t>
            </a:r>
            <a:r>
              <a:rPr lang="en-GB" dirty="0" err="1"/>
              <a:t>bisases</a:t>
            </a:r>
            <a:endParaRPr lang="en-GB" dirty="0"/>
          </a:p>
          <a:p>
            <a:r>
              <a:rPr lang="en-GB" dirty="0"/>
              <a:t>Fine tuned for 8 epochs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38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97A6-0190-4DB4-7491-34E9FF1E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1D-CNN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7D661-030E-A773-A908-A4D9E426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comparison purposes</a:t>
            </a:r>
          </a:p>
          <a:p>
            <a:pPr lvl="1"/>
            <a:r>
              <a:rPr lang="en-GB" dirty="0"/>
              <a:t>Comparing CNN local finding to transformer overall finding</a:t>
            </a:r>
          </a:p>
          <a:p>
            <a:r>
              <a:rPr lang="en-GB" dirty="0"/>
              <a:t>Convolutional filters kernel size 9 </a:t>
            </a:r>
          </a:p>
          <a:p>
            <a:r>
              <a:rPr lang="en-GB" dirty="0"/>
              <a:t>Global max pooling</a:t>
            </a:r>
          </a:p>
          <a:p>
            <a:endParaRPr lang="en-GB" dirty="0"/>
          </a:p>
          <a:p>
            <a:r>
              <a:rPr lang="en-GB" dirty="0"/>
              <a:t>Here maybe a figure like a diagram or something of this</a:t>
            </a:r>
          </a:p>
          <a:p>
            <a:endParaRPr lang="en-GB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089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011D-A975-A660-FE83-DC544167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Imbalance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F2BC-4596-D544-B751-3528F1520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Weighted cross entropy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416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1D86-54B8-924B-DC4C-BAA0889C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metrics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7591-1B27-D2E9-4756-EED97EC92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Accuracy</a:t>
            </a:r>
          </a:p>
          <a:p>
            <a:pPr lvl="1"/>
            <a:r>
              <a:rPr lang="en-GB" dirty="0"/>
              <a:t>Explanation necessary?</a:t>
            </a:r>
          </a:p>
          <a:p>
            <a:r>
              <a:rPr lang="en-GB" dirty="0"/>
              <a:t>Roc </a:t>
            </a:r>
            <a:r>
              <a:rPr lang="en-GB" dirty="0" err="1"/>
              <a:t>auc</a:t>
            </a:r>
            <a:endParaRPr lang="en-GB" dirty="0"/>
          </a:p>
          <a:p>
            <a:pPr lvl="1"/>
            <a:r>
              <a:rPr lang="en-GB" dirty="0"/>
              <a:t>Area  under curve region of c</a:t>
            </a:r>
          </a:p>
          <a:p>
            <a:pPr lvl="1"/>
            <a:r>
              <a:rPr lang="en-GB" dirty="0"/>
              <a:t>Measure for class separation</a:t>
            </a:r>
          </a:p>
          <a:p>
            <a:r>
              <a:rPr lang="en-GB" dirty="0"/>
              <a:t>Recall(sensitivity)</a:t>
            </a:r>
          </a:p>
          <a:p>
            <a:pPr lvl="1"/>
            <a:r>
              <a:rPr lang="en-GB" dirty="0"/>
              <a:t>False negative measure</a:t>
            </a:r>
          </a:p>
          <a:p>
            <a:pPr lvl="1"/>
            <a:r>
              <a:rPr lang="en-GB" dirty="0"/>
              <a:t>Critical in clinical setting</a:t>
            </a:r>
          </a:p>
        </p:txBody>
      </p:sp>
    </p:spTree>
    <p:extLst>
      <p:ext uri="{BB962C8B-B14F-4D97-AF65-F5344CB8AC3E}">
        <p14:creationId xmlns:p14="http://schemas.microsoft.com/office/powerpoint/2010/main" val="2606472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EE36-DCD1-F99B-950B-9BFA407B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DNABERT-2 Results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D28BD-358E-19D9-61E9-4269ED9A0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</a:t>
            </a:r>
            <a:r>
              <a:rPr lang="en-GB" dirty="0" err="1"/>
              <a:t>coyld</a:t>
            </a:r>
            <a:r>
              <a:rPr lang="en-GB" dirty="0"/>
              <a:t> just put the table here and write below the important things out, or just point them out while presenting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9963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CE15-708A-3C03-9254-4AE3153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CNN Results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14D84-663B-61A7-B1B4-16B664C94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Same here as with the </a:t>
            </a:r>
            <a:r>
              <a:rPr lang="en-GB" dirty="0" err="1"/>
              <a:t>dnabert</a:t>
            </a:r>
            <a:r>
              <a:rPr lang="en-GB" dirty="0"/>
              <a:t> results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280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A583-0E58-E6F4-7A07-A4A0BB6B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 comparison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5E8F-F3EB-695C-7870-89224FA9A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Again the table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502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6562-8B57-A5EE-E294-9090B9D4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of performance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09617-A9CB-3733-4811-14DEA413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Transformer out performs neural network</a:t>
            </a:r>
          </a:p>
          <a:p>
            <a:pPr lvl="1"/>
            <a:r>
              <a:rPr lang="en-GB" dirty="0"/>
              <a:t>Due to long-range dependencies</a:t>
            </a:r>
          </a:p>
          <a:p>
            <a:r>
              <a:rPr lang="en-GB" dirty="0"/>
              <a:t>CNNs good results indicate importance of local motifs</a:t>
            </a:r>
          </a:p>
          <a:p>
            <a:r>
              <a:rPr lang="en-GB" dirty="0"/>
              <a:t>Transformers </a:t>
            </a:r>
            <a:r>
              <a:rPr lang="en-GB" dirty="0">
                <a:highlight>
                  <a:srgbClr val="FFFF00"/>
                </a:highlight>
              </a:rPr>
              <a:t>globality</a:t>
            </a:r>
            <a:r>
              <a:rPr lang="en-GB" dirty="0"/>
              <a:t> helps see what CNNs miss, without missing what CNNs see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0140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675B-CAE3-FDB4-6600-932C7B44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Trade-off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7092-3198-D628-67FA-CEF50ECC5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Could throw another table in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CNNs need less parameters, train faster</a:t>
            </a:r>
          </a:p>
          <a:p>
            <a:r>
              <a:rPr lang="en-GB" dirty="0"/>
              <a:t>Inference speed is faster for CNNs</a:t>
            </a:r>
          </a:p>
          <a:p>
            <a:pPr lvl="1"/>
            <a:r>
              <a:rPr lang="en-GB" dirty="0"/>
              <a:t>10 times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335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F57F-1289-5AF7-CB42-70F6FE9D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implications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D11FD-E1A7-5AC8-2A7B-8BAFB881C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Resource constrained approach:</a:t>
            </a:r>
          </a:p>
          <a:p>
            <a:pPr lvl="1"/>
            <a:r>
              <a:rPr lang="en-GB" dirty="0"/>
              <a:t>CNN better fast light good enough for most cases</a:t>
            </a:r>
          </a:p>
          <a:p>
            <a:r>
              <a:rPr lang="en-GB" dirty="0"/>
              <a:t>Precision necessary:</a:t>
            </a:r>
          </a:p>
          <a:p>
            <a:pPr lvl="1"/>
            <a:r>
              <a:rPr lang="en-GB" dirty="0"/>
              <a:t>Transformer model required</a:t>
            </a:r>
          </a:p>
          <a:p>
            <a:pPr lvl="1"/>
            <a:r>
              <a:rPr lang="en-GB" dirty="0"/>
              <a:t>99% recall</a:t>
            </a:r>
          </a:p>
        </p:txBody>
      </p:sp>
    </p:spTree>
    <p:extLst>
      <p:ext uri="{BB962C8B-B14F-4D97-AF65-F5344CB8AC3E}">
        <p14:creationId xmlns:p14="http://schemas.microsoft.com/office/powerpoint/2010/main" val="869661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924D-0409-C22C-3C21-819BA4C9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39835-CA0A-B878-44D2-EAC111C4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Cnns</a:t>
            </a:r>
            <a:r>
              <a:rPr lang="en-GB" dirty="0"/>
              <a:t> have uses </a:t>
            </a:r>
          </a:p>
          <a:p>
            <a:r>
              <a:rPr lang="en-GB" dirty="0"/>
              <a:t>Transformers better</a:t>
            </a:r>
          </a:p>
          <a:p>
            <a:r>
              <a:rPr lang="en-GB" dirty="0"/>
              <a:t>Depends on constraints</a:t>
            </a:r>
          </a:p>
          <a:p>
            <a:r>
              <a:rPr lang="en-GB" dirty="0"/>
              <a:t>Deep learning is viable in resistance prediction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What to do </a:t>
            </a:r>
            <a:r>
              <a:rPr lang="en-GB"/>
              <a:t>in future maybe a line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693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Predicting Cefoxitin Resistance in Staphylococcus aureus Using Encoder-Only Transformer Models</vt:lpstr>
      <vt:lpstr>Maybe table of contents?</vt:lpstr>
      <vt:lpstr>Problem probably covered by everyone else</vt:lpstr>
      <vt:lpstr>Theoretical Background</vt:lpstr>
      <vt:lpstr>Evolution of models</vt:lpstr>
      <vt:lpstr>Transformer approach</vt:lpstr>
      <vt:lpstr>Methodology</vt:lpstr>
      <vt:lpstr>DNABERT-2</vt:lpstr>
      <vt:lpstr>1D-CNN</vt:lpstr>
      <vt:lpstr>Imbalance</vt:lpstr>
      <vt:lpstr>Evaluation metrics</vt:lpstr>
      <vt:lpstr>DNABERT-2 Results</vt:lpstr>
      <vt:lpstr>CNN Results</vt:lpstr>
      <vt:lpstr>Result comparison</vt:lpstr>
      <vt:lpstr>Analysis of performance</vt:lpstr>
      <vt:lpstr>Trade-off</vt:lpstr>
      <vt:lpstr>Clinical implications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</dc:creator>
  <cp:lastModifiedBy>Ed</cp:lastModifiedBy>
  <cp:revision>1</cp:revision>
  <dcterms:created xsi:type="dcterms:W3CDTF">2026-01-23T03:28:35Z</dcterms:created>
  <dcterms:modified xsi:type="dcterms:W3CDTF">2026-01-23T03:28:54Z</dcterms:modified>
</cp:coreProperties>
</file>